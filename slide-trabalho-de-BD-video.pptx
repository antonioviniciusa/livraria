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4DCFFF-819B-4B69-97C1-2DA92212DB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85800" y="2194560"/>
            <a:ext cx="5333760" cy="40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5FFA4D-4A67-44E9-A8B0-4CCE7BE283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5333760" cy="40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00C283-8910-4043-96F2-B567EE348A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2602800" cy="40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3419280" y="2194560"/>
            <a:ext cx="2602800" cy="40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7AB66B-52E0-4F46-B472-884F1F8E2C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B5C89C-88C1-4DDA-9BBD-534B7C3A11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2895480" y="764280"/>
            <a:ext cx="8610120" cy="59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059410-3225-425A-8E59-8466FA972D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3419280" y="2194560"/>
            <a:ext cx="2602800" cy="40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85800" y="429660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621120-30CE-4917-8CEC-BE071F81DF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2602800" cy="40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3419280" y="219456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3419280" y="429660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72A5BC-98EF-4303-9F84-5B7DD6A4F9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3419280" y="219456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85800" y="4296600"/>
            <a:ext cx="533376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35CE56-6370-473E-9414-B71733E3E0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533376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85800" y="4296600"/>
            <a:ext cx="533376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D8B798-14E3-4470-889C-E385A719D9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419280" y="219456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85800" y="429660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3419280" y="429660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BC8D49-AEF8-4B44-A4A2-7113FD495A1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17172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2489400" y="2194560"/>
            <a:ext cx="17172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4292640" y="2194560"/>
            <a:ext cx="17172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85800" y="4296600"/>
            <a:ext cx="17172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2489400" y="4296600"/>
            <a:ext cx="17172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4292640" y="4296600"/>
            <a:ext cx="17172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BA1455-73E6-42F5-9B26-FA9EA101AF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10CF96-56F4-4A7D-A6C4-F87F441BBD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85800" y="2194560"/>
            <a:ext cx="5333760" cy="40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E4EAD3-C621-4C5A-B715-C37B1858AE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5333760" cy="40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5456EE-5A8E-427B-9DEE-46BFC09685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2602800" cy="40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3419280" y="2194560"/>
            <a:ext cx="2602800" cy="40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E4B81E-5648-4091-B942-62ECABF7C0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36CB9B-479C-40E4-BDF4-D75F08DBF8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2895480" y="764280"/>
            <a:ext cx="8610120" cy="59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0CAD65-E5B5-4156-B301-3F7B733EA9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3419280" y="2194560"/>
            <a:ext cx="2602800" cy="40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85800" y="429660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7ED28A-9213-42D5-98A6-E31FAA2CC7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2602800" cy="40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3419280" y="219456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3419280" y="429660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54E0F1-F0FF-433B-90F6-B1CAEA6E4B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3419280" y="219456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85800" y="4296600"/>
            <a:ext cx="533376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7347F2-CD63-441D-812B-F850067DF0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533376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85800" y="4296600"/>
            <a:ext cx="533376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1BE3EB-D58B-4C52-B11F-E4AD10F118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3419280" y="219456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685800" y="429660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3419280" y="4296600"/>
            <a:ext cx="26028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B89EF7-6F45-4619-8583-0A0FC7BE94D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17172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2489400" y="2194560"/>
            <a:ext cx="17172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4292640" y="2194560"/>
            <a:ext cx="17172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685800" y="4296600"/>
            <a:ext cx="17172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2489400" y="4296600"/>
            <a:ext cx="17172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4292640" y="4296600"/>
            <a:ext cx="171720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6B82FB-ACFA-47E0-BD61-D6330308258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6" descr="C0-HD-TOP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1441080"/>
          </a:xfrm>
          <a:prstGeom prst="rect">
            <a:avLst/>
          </a:prstGeom>
          <a:ln w="0">
            <a:noFill/>
          </a:ln>
        </p:spPr>
      </p:pic>
      <p:pic>
        <p:nvPicPr>
          <p:cNvPr id="1" name="Picture 6" descr="C0-HD-BTM.png"/>
          <p:cNvPicPr/>
          <p:nvPr/>
        </p:nvPicPr>
        <p:blipFill>
          <a:blip r:embed="rId3"/>
          <a:stretch/>
        </p:blipFill>
        <p:spPr>
          <a:xfrm>
            <a:off x="0" y="4375080"/>
            <a:ext cx="12191760" cy="24825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371600" y="1803240"/>
            <a:ext cx="9448560" cy="1824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pt-BR" sz="6000" spc="-1" strike="noStrike" cap="all">
                <a:solidFill>
                  <a:srgbClr val="ffffff"/>
                </a:solidFill>
                <a:latin typeface="Century Gothic"/>
              </a:rPr>
              <a:t>Clique para editar o título mestre</a:t>
            </a:r>
            <a:endParaRPr b="0" lang="en-US" sz="60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7909560" y="4314240"/>
            <a:ext cx="2910600" cy="37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entury Gothic"/>
              </a:rPr>
              <a:t>&lt;data/hora&gt;</a:t>
            </a:r>
            <a:endParaRPr b="0" lang="pt-BR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1371600" y="4323960"/>
            <a:ext cx="6400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ffffff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077320" y="14310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55DBD5-BEE2-438E-85BC-EA0B6E5D73C5}" type="slidenum">
              <a:rPr b="0" lang="en-US" sz="1050" spc="-1" strike="noStrike">
                <a:solidFill>
                  <a:srgbClr val="ffffff"/>
                </a:solidFill>
                <a:latin typeface="Century Gothic"/>
              </a:rPr>
              <a:t>&lt;número&gt;</a:t>
            </a:fld>
            <a:endParaRPr b="0" lang="pt-BR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</a:rPr>
              <a:t>Clique para editar o formato de </a:t>
            </a:r>
            <a:r>
              <a:rPr b="0" lang="en-US" sz="2200" spc="-1" strike="noStrike">
                <a:solidFill>
                  <a:srgbClr val="ffffff"/>
                </a:solidFill>
                <a:latin typeface="Century Gothic"/>
              </a:rPr>
              <a:t>texto dos tópicos</a:t>
            </a: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Century Gothic"/>
              </a:rPr>
              <a:t>2.º nível de tópicos</a:t>
            </a: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ffffff"/>
                </a:solidFill>
                <a:latin typeface="Century Gothic"/>
              </a:rPr>
              <a:t>3.º nível de tópicos</a:t>
            </a:r>
            <a:endParaRPr b="0" lang="en-US" sz="1600" spc="-1" strike="noStrike">
              <a:solidFill>
                <a:srgbClr val="ffffff"/>
              </a:solidFill>
              <a:latin typeface="Century Gothic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ffffff"/>
                </a:solidFill>
                <a:latin typeface="Century Gothic"/>
              </a:rPr>
              <a:t>4.º nível de tópicos</a:t>
            </a:r>
            <a:endParaRPr b="0" lang="en-US" sz="1600" spc="-1" strike="noStrike">
              <a:solidFill>
                <a:srgbClr val="ffffff"/>
              </a:solidFill>
              <a:latin typeface="Century Gothic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</a:rPr>
              <a:t>5.º nível de tópicos</a:t>
            </a: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</a:rPr>
              <a:t>6.º nível de tópicos</a:t>
            </a: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</a:rPr>
              <a:t>7.º nível de </a:t>
            </a:r>
            <a:r>
              <a:rPr b="0" lang="en-US" sz="2000" spc="-1" strike="noStrike">
                <a:solidFill>
                  <a:srgbClr val="ffffff"/>
                </a:solidFill>
                <a:latin typeface="Century Gothic"/>
              </a:rPr>
              <a:t>tópicos</a:t>
            </a: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6" descr="C0-HD-TOP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144108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895480" y="7642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r">
              <a:lnSpc>
                <a:spcPct val="90000"/>
              </a:lnSpc>
              <a:buNone/>
            </a:pPr>
            <a:r>
              <a:rPr b="0" lang="pt-BR" sz="4000" spc="-1" strike="noStrike" cap="all">
                <a:solidFill>
                  <a:srgbClr val="ffffff"/>
                </a:solidFill>
                <a:latin typeface="Century Gothic"/>
              </a:rPr>
              <a:t>Clique para editar o título mestre</a:t>
            </a:r>
            <a:endParaRPr b="0" lang="en-US" sz="40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5800" y="2194560"/>
            <a:ext cx="5333760" cy="4023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2200" spc="-1" strike="noStrike">
                <a:solidFill>
                  <a:srgbClr val="ffffff"/>
                </a:solidFill>
                <a:latin typeface="Century Gothic"/>
              </a:rPr>
              <a:t>Clique para editar o texto mestre</a:t>
            </a: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2000" spc="-1" strike="noStrike">
                <a:solidFill>
                  <a:srgbClr val="ffffff"/>
                </a:solidFill>
                <a:latin typeface="Century Gothic"/>
              </a:rPr>
              <a:t>Segundo nível</a:t>
            </a: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1800" spc="-1" strike="noStrike">
                <a:solidFill>
                  <a:srgbClr val="ffffff"/>
                </a:solidFill>
                <a:latin typeface="Century Gothic"/>
              </a:rPr>
              <a:t>Terceiro nível</a:t>
            </a: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1600" spc="-1" strike="noStrike">
                <a:solidFill>
                  <a:srgbClr val="ffffff"/>
                </a:solidFill>
                <a:latin typeface="Century Gothic"/>
              </a:rPr>
              <a:t>Quarto nível</a:t>
            </a:r>
            <a:endParaRPr b="0" lang="en-US" sz="1600" spc="-1" strike="noStrike">
              <a:solidFill>
                <a:srgbClr val="ffffff"/>
              </a:solidFill>
              <a:latin typeface="Century Gothic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1600" spc="-1" strike="noStrike">
                <a:solidFill>
                  <a:srgbClr val="ffffff"/>
                </a:solidFill>
                <a:latin typeface="Century Gothic"/>
              </a:rPr>
              <a:t>Quinto nível</a:t>
            </a:r>
            <a:endParaRPr b="0" lang="en-US" sz="16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172200" y="2194560"/>
            <a:ext cx="5333760" cy="4023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2200" spc="-1" strike="noStrike">
                <a:solidFill>
                  <a:srgbClr val="ffffff"/>
                </a:solidFill>
                <a:latin typeface="Century Gothic"/>
              </a:rPr>
              <a:t>Clique para editar o texto mestre</a:t>
            </a: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2000" spc="-1" strike="noStrike">
                <a:solidFill>
                  <a:srgbClr val="ffffff"/>
                </a:solidFill>
                <a:latin typeface="Century Gothic"/>
              </a:rPr>
              <a:t>Segundo nível</a:t>
            </a: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1800" spc="-1" strike="noStrike">
                <a:solidFill>
                  <a:srgbClr val="ffffff"/>
                </a:solidFill>
                <a:latin typeface="Century Gothic"/>
              </a:rPr>
              <a:t>Terceiro nível</a:t>
            </a:r>
            <a:endParaRPr b="0" lang="en-US" sz="1800" spc="-1" strike="noStrike">
              <a:solidFill>
                <a:srgbClr val="ffffff"/>
              </a:solidFill>
              <a:latin typeface="Century Gothic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1600" spc="-1" strike="noStrike">
                <a:solidFill>
                  <a:srgbClr val="ffffff"/>
                </a:solidFill>
                <a:latin typeface="Century Gothic"/>
              </a:rPr>
              <a:t>Quarto nível</a:t>
            </a:r>
            <a:endParaRPr b="0" lang="en-US" sz="1600" spc="-1" strike="noStrike">
              <a:solidFill>
                <a:srgbClr val="ffffff"/>
              </a:solidFill>
              <a:latin typeface="Century Gothic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1600" spc="-1" strike="noStrike">
                <a:solidFill>
                  <a:srgbClr val="ffffff"/>
                </a:solidFill>
                <a:latin typeface="Century Gothic"/>
              </a:rPr>
              <a:t>Quinto nível</a:t>
            </a:r>
            <a:endParaRPr b="0" lang="en-US" sz="16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4"/>
          </p:nvPr>
        </p:nvSpPr>
        <p:spPr>
          <a:xfrm>
            <a:off x="8595360" y="6356520"/>
            <a:ext cx="29106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entury Gothic"/>
              </a:rPr>
              <a:t>&lt;data/hora&gt;</a:t>
            </a:r>
            <a:endParaRPr b="0" lang="pt-BR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5"/>
          </p:nvPr>
        </p:nvSpPr>
        <p:spPr>
          <a:xfrm>
            <a:off x="685800" y="6355800"/>
            <a:ext cx="7772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ffffff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6"/>
          </p:nvPr>
        </p:nvSpPr>
        <p:spPr>
          <a:xfrm>
            <a:off x="8763120" y="3808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2E502B-9C6B-4E3A-B31F-61B746C4858C}" type="slidenum">
              <a:rPr b="0" lang="en-US" sz="1050" spc="-1" strike="noStrike">
                <a:solidFill>
                  <a:srgbClr val="ffffff"/>
                </a:solidFill>
                <a:latin typeface="Century Gothic"/>
              </a:rPr>
              <a:t>&lt;número&gt;</a:t>
            </a:fld>
            <a:endParaRPr b="0" lang="pt-BR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video" Target="file:///home/v/V&#237;deos/Grava&#231;&#245;es de tela/Grava&#231;&#227;o de tela de 2025-11-18 05-37-52.webm" TargetMode="External"/><Relationship Id="rId2" Type="http://schemas.microsoft.com/office/2007/relationships/media" Target="file:///home/v/V&#237;deos/Grava&#231;&#245;es de tela/Grava&#231;&#227;o de tela de 2025-11-18 05-37-52.webm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371600" y="1803240"/>
            <a:ext cx="9448560" cy="1824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b="0" lang="pt-BR" sz="6000" spc="-1" strike="noStrike" cap="all">
                <a:solidFill>
                  <a:srgbClr val="ffffff"/>
                </a:solidFill>
                <a:latin typeface="Arial"/>
              </a:rPr>
              <a:t>Sistema de gestão </a:t>
            </a:r>
            <a:br>
              <a:rPr sz="6000"/>
            </a:br>
            <a:r>
              <a:rPr b="0" lang="pt-BR" sz="6000" spc="-1" strike="noStrike" cap="all">
                <a:solidFill>
                  <a:srgbClr val="ffffff"/>
                </a:solidFill>
                <a:latin typeface="Arial"/>
              </a:rPr>
              <a:t>livraria</a:t>
            </a:r>
            <a:endParaRPr b="0" lang="en-US" sz="6000" spc="-1" strike="noStrike">
              <a:solidFill>
                <a:srgbClr val="ffffff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714680" y="506880"/>
            <a:ext cx="8610120" cy="1292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pt-BR" sz="4000" spc="-1" strike="noStrike" cap="all">
                <a:solidFill>
                  <a:srgbClr val="ffffff"/>
                </a:solidFill>
                <a:latin typeface="Century Gothic"/>
              </a:rPr>
              <a:t>Vídeo do sistema</a:t>
            </a:r>
            <a:endParaRPr b="0" lang="en-US" sz="4000" spc="-1" strike="noStrike">
              <a:solidFill>
                <a:srgbClr val="ffffff"/>
              </a:solidFill>
              <a:latin typeface="Century Gothic"/>
            </a:endParaRPr>
          </a:p>
        </p:txBody>
      </p:sp>
      <p:pic>
        <p:nvPicPr>
          <p:cNvPr id="88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0000" y="1440000"/>
            <a:ext cx="11905560" cy="48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66120" y="650160"/>
            <a:ext cx="11612520" cy="1292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b="0" lang="pt-BR" sz="4000" spc="-1" strike="noStrike" cap="all">
                <a:solidFill>
                  <a:srgbClr val="ffffff"/>
                </a:solidFill>
                <a:latin typeface="Arial"/>
              </a:rPr>
              <a:t>introdução</a:t>
            </a:r>
            <a:endParaRPr b="0" lang="en-US" sz="40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5333760" cy="4023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O Sistema de Gestão para Livrarias, apresenta uma solução completa desenvolvida com arquitetura moderna que combina o melhor dos bancos relacionais e NoSQL.</a:t>
            </a:r>
            <a:endParaRPr b="0" lang="en-US" sz="16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6172200" y="2194560"/>
            <a:ext cx="5333760" cy="4023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 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Como:</a:t>
            </a:r>
            <a:endParaRPr b="0" lang="en-US" sz="1600" spc="-1" strike="noStrike">
              <a:solidFill>
                <a:srgbClr val="ffffff"/>
              </a:solidFill>
              <a:latin typeface="Century Gothic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Login no sistema</a:t>
            </a:r>
            <a:endParaRPr b="0" lang="en-US" sz="16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Century Gothic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Navegação rápida pelo catálogo de livros</a:t>
            </a:r>
            <a:endParaRPr b="0" lang="en-US" sz="16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Century Gothic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Criação de um pedido</a:t>
            </a:r>
            <a:endParaRPr b="0" lang="en-US" sz="1600" spc="-1" strike="noStrike">
              <a:solidFill>
                <a:srgbClr val="ffffff"/>
              </a:solidFill>
              <a:latin typeface="Century Gothic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Dashboard com estatísticas</a:t>
            </a:r>
            <a:endParaRPr b="0" lang="en-US" sz="1600" spc="-1" strike="noStrike">
              <a:solidFill>
                <a:srgbClr val="ffffff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85800" y="764280"/>
            <a:ext cx="10820160" cy="1292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pt-BR" sz="4000" spc="-1" strike="noStrike" cap="all">
                <a:solidFill>
                  <a:srgbClr val="ffffff"/>
                </a:solidFill>
                <a:latin typeface="Arial"/>
              </a:rPr>
              <a:t>ESCOLHAS TÉCNICAS</a:t>
            </a:r>
            <a:endParaRPr b="0" lang="en-US" sz="40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5333760" cy="4023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000"/>
          </a:bodyPr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Para profissionais técnicos:</a:t>
            </a: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Nossa arquitetura híbrida resolve problemas específicos.</a:t>
            </a: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marL="235080" indent="-235080" algn="just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MySQL:</a:t>
            </a: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marL="235080" indent="-235080" algn="just">
              <a:lnSpc>
                <a:spcPct val="17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✅ </a:t>
            </a: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Dados estruturados: Livros, autores, editoras, categorias</a:t>
            </a: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marL="235080" indent="-235080" algn="just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✅ </a:t>
            </a: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Transações ACID: Pedidos e controle de estoque</a:t>
            </a: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marL="235080" indent="-235080" algn="just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✅ </a:t>
            </a: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Integridade referencial: Clientes ↔ Pedidos ↔ Itens</a:t>
            </a: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marL="235080" indent="-235080" algn="just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✅ </a:t>
            </a: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Stored Procedures: Lógica complexa de negócio</a:t>
            </a: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6172200" y="2194560"/>
            <a:ext cx="5333760" cy="4023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26520" indent="-3265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2300" spc="-1" strike="noStrike">
                <a:solidFill>
                  <a:srgbClr val="ffffff"/>
                </a:solidFill>
                <a:latin typeface="Arial"/>
              </a:rPr>
              <a:t>MongoDB:</a:t>
            </a:r>
            <a:endParaRPr b="0" lang="en-US" sz="2300" spc="-1" strike="noStrike">
              <a:solidFill>
                <a:srgbClr val="ffffff"/>
              </a:solidFill>
              <a:latin typeface="Century Gothic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300" spc="-1" strike="noStrike">
              <a:solidFill>
                <a:srgbClr val="ffffff"/>
              </a:solidFill>
              <a:latin typeface="Century Gothic"/>
            </a:endParaRPr>
          </a:p>
          <a:p>
            <a:pPr marL="326520" indent="-3265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2300" spc="-1" strike="noStrike">
                <a:solidFill>
                  <a:srgbClr val="ffffff"/>
                </a:solidFill>
                <a:latin typeface="Arial"/>
              </a:rPr>
              <a:t>✅ </a:t>
            </a:r>
            <a:r>
              <a:rPr b="0" lang="pt-BR" sz="2300" spc="-1" strike="noStrike">
                <a:solidFill>
                  <a:srgbClr val="ffffff"/>
                </a:solidFill>
                <a:latin typeface="Arial"/>
              </a:rPr>
              <a:t>Auditoria completa: Todas as operações do sistema</a:t>
            </a:r>
            <a:endParaRPr b="0" lang="en-US" sz="2300" spc="-1" strike="noStrike">
              <a:solidFill>
                <a:srgbClr val="ffffff"/>
              </a:solidFill>
              <a:latin typeface="Century Gothic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300" spc="-1" strike="noStrike">
              <a:solidFill>
                <a:srgbClr val="ffffff"/>
              </a:solidFill>
              <a:latin typeface="Century Gothic"/>
            </a:endParaRPr>
          </a:p>
          <a:p>
            <a:pPr marL="326520" indent="-3265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2300" spc="-1" strike="noStrike">
                <a:solidFill>
                  <a:srgbClr val="ffffff"/>
                </a:solidFill>
                <a:latin typeface="Arial"/>
              </a:rPr>
              <a:t>✅ </a:t>
            </a:r>
            <a:r>
              <a:rPr b="0" lang="pt-BR" sz="2300" spc="-1" strike="noStrike">
                <a:solidFill>
                  <a:srgbClr val="ffffff"/>
                </a:solidFill>
                <a:latin typeface="Arial"/>
              </a:rPr>
              <a:t>Schema flexível: Logs com estruturas variáveis</a:t>
            </a:r>
            <a:endParaRPr b="0" lang="en-US" sz="2300" spc="-1" strike="noStrike">
              <a:solidFill>
                <a:srgbClr val="ffffff"/>
              </a:solidFill>
              <a:latin typeface="Century Gothic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85800" y="764280"/>
            <a:ext cx="10820160" cy="1292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pt-BR" sz="4000" spc="-1" strike="noStrike" cap="all">
                <a:solidFill>
                  <a:srgbClr val="ffffff"/>
                </a:solidFill>
                <a:latin typeface="Arial"/>
              </a:rPr>
              <a:t>BENEFÍCIOS PARA O NEGÓCIO</a:t>
            </a:r>
            <a:endParaRPr b="0" lang="en-US" sz="40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5333760" cy="4023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8000"/>
          </a:bodyPr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900" spc="-1" strike="noStrike">
                <a:solidFill>
                  <a:srgbClr val="ffffff"/>
                </a:solidFill>
                <a:latin typeface="Arial"/>
              </a:rPr>
              <a:t>Para clientes não-técnicos:</a:t>
            </a:r>
            <a:endParaRPr b="0" lang="en-US" sz="29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900" spc="-1" strike="noStrike">
                <a:solidFill>
                  <a:srgbClr val="ffffff"/>
                </a:solidFill>
                <a:latin typeface="Arial"/>
              </a:rPr>
              <a:t>Esta solução traz resultados tangíveis para sua livraria.</a:t>
            </a:r>
            <a:endParaRPr b="0" lang="en-US" sz="29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9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900" spc="-1" strike="noStrike">
                <a:solidFill>
                  <a:srgbClr val="ffffff"/>
                </a:solidFill>
                <a:latin typeface="Arial"/>
              </a:rPr>
              <a:t>Para o Gestor:</a:t>
            </a:r>
            <a:endParaRPr b="0" lang="en-US" sz="29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900" spc="-1" strike="noStrike">
              <a:solidFill>
                <a:srgbClr val="ffffff"/>
              </a:solidFill>
              <a:latin typeface="Century Gothic"/>
            </a:endParaRPr>
          </a:p>
          <a:p>
            <a:pPr marL="230760" indent="-230760" algn="just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900" spc="-1" strike="noStrike">
                <a:solidFill>
                  <a:srgbClr val="ffffff"/>
                </a:solidFill>
                <a:latin typeface="Arial"/>
              </a:rPr>
              <a:t>📊 </a:t>
            </a:r>
            <a:r>
              <a:rPr b="0" lang="pt-BR" sz="2900" spc="-1" strike="noStrike">
                <a:solidFill>
                  <a:srgbClr val="ffffff"/>
                </a:solidFill>
                <a:latin typeface="Arial"/>
              </a:rPr>
              <a:t>Decisões baseadas em dados: Estatísticas em tempo real</a:t>
            </a:r>
            <a:endParaRPr b="0" lang="en-US" sz="29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900" spc="-1" strike="noStrike">
              <a:solidFill>
                <a:srgbClr val="ffffff"/>
              </a:solidFill>
              <a:latin typeface="Century Gothic"/>
            </a:endParaRPr>
          </a:p>
          <a:p>
            <a:pPr marL="230760" indent="-230760" algn="just">
              <a:lnSpc>
                <a:spcPct val="17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900" spc="-1" strike="noStrike">
                <a:solidFill>
                  <a:srgbClr val="ffffff"/>
                </a:solidFill>
                <a:latin typeface="Arial"/>
              </a:rPr>
              <a:t>🔒 </a:t>
            </a:r>
            <a:r>
              <a:rPr b="0" lang="pt-BR" sz="2900" spc="-1" strike="noStrike">
                <a:solidFill>
                  <a:srgbClr val="ffffff"/>
                </a:solidFill>
                <a:latin typeface="Arial"/>
              </a:rPr>
              <a:t>Segurança e rastreabilidade: Saber quem fez o quê e quando</a:t>
            </a:r>
            <a:endParaRPr b="0" lang="en-US" sz="29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900" spc="-1" strike="noStrike">
              <a:solidFill>
                <a:srgbClr val="ffffff"/>
              </a:solidFill>
              <a:latin typeface="Century Gothic"/>
            </a:endParaRPr>
          </a:p>
          <a:p>
            <a:pPr marL="230760" indent="-230760" algn="just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900" spc="-1" strike="noStrike">
                <a:solidFill>
                  <a:srgbClr val="ffffff"/>
                </a:solidFill>
                <a:latin typeface="Arial"/>
              </a:rPr>
              <a:t>⚡ </a:t>
            </a:r>
            <a:r>
              <a:rPr b="0" lang="pt-BR" sz="2900" spc="-1" strike="noStrike">
                <a:solidFill>
                  <a:srgbClr val="ffffff"/>
                </a:solidFill>
                <a:latin typeface="Arial"/>
              </a:rPr>
              <a:t>Performance: Sistema rápido mesmo com muitos usuários</a:t>
            </a:r>
            <a:endParaRPr b="0" lang="en-US" sz="29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900" spc="-1" strike="noStrike">
              <a:solidFill>
                <a:srgbClr val="ffffff"/>
              </a:solidFill>
              <a:latin typeface="Century Gothic"/>
            </a:endParaRPr>
          </a:p>
          <a:p>
            <a:pPr marL="230760" indent="-230760" algn="just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900" spc="-1" strike="noStrike">
                <a:solidFill>
                  <a:srgbClr val="ffffff"/>
                </a:solidFill>
                <a:latin typeface="Arial"/>
              </a:rPr>
              <a:t>📈 </a:t>
            </a:r>
            <a:r>
              <a:rPr b="0" lang="pt-BR" sz="2900" spc="-1" strike="noStrike">
                <a:solidFill>
                  <a:srgbClr val="ffffff"/>
                </a:solidFill>
                <a:latin typeface="Arial"/>
              </a:rPr>
              <a:t>Escalabilidade: Pronto para crescimento</a:t>
            </a:r>
            <a:endParaRPr b="0" lang="en-US" sz="29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172200" y="2194560"/>
            <a:ext cx="5333760" cy="4023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000"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3400" spc="-1" strike="noStrike">
                <a:solidFill>
                  <a:srgbClr val="ffffff"/>
                </a:solidFill>
                <a:latin typeface="Arial"/>
              </a:rPr>
              <a:t>Para a Equipe:</a:t>
            </a:r>
            <a:endParaRPr b="0" lang="en-US" sz="3400" spc="-1" strike="noStrike">
              <a:solidFill>
                <a:srgbClr val="ffffff"/>
              </a:solidFill>
              <a:latin typeface="Century Gothic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400" spc="-1" strike="noStrike">
              <a:solidFill>
                <a:srgbClr val="ffffff"/>
              </a:solidFill>
              <a:latin typeface="Century Gothic"/>
            </a:endParaRPr>
          </a:p>
          <a:p>
            <a:pPr marL="254880" indent="-254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3400" spc="-1" strike="noStrike">
                <a:solidFill>
                  <a:srgbClr val="ffffff"/>
                </a:solidFill>
                <a:latin typeface="Arial"/>
              </a:rPr>
              <a:t>💻 </a:t>
            </a:r>
            <a:r>
              <a:rPr b="0" lang="pt-BR" sz="3400" spc="-1" strike="noStrike">
                <a:solidFill>
                  <a:srgbClr val="ffffff"/>
                </a:solidFill>
                <a:latin typeface="Arial"/>
              </a:rPr>
              <a:t>Interface intuitiva: Fácil de usar no dia a dia</a:t>
            </a:r>
            <a:endParaRPr b="0" lang="en-US" sz="3400" spc="-1" strike="noStrike">
              <a:solidFill>
                <a:srgbClr val="ffffff"/>
              </a:solidFill>
              <a:latin typeface="Century Gothic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400" spc="-1" strike="noStrike">
              <a:solidFill>
                <a:srgbClr val="ffffff"/>
              </a:solidFill>
              <a:latin typeface="Century Gothic"/>
            </a:endParaRPr>
          </a:p>
          <a:p>
            <a:pPr marL="254880" indent="-254880">
              <a:lnSpc>
                <a:spcPct val="17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3400" spc="-1" strike="noStrike">
                <a:solidFill>
                  <a:srgbClr val="ffffff"/>
                </a:solidFill>
                <a:latin typeface="Arial"/>
              </a:rPr>
              <a:t>📦 </a:t>
            </a:r>
            <a:r>
              <a:rPr b="0" lang="pt-BR" sz="3400" spc="-1" strike="noStrike">
                <a:solidFill>
                  <a:srgbClr val="ffffff"/>
                </a:solidFill>
                <a:latin typeface="Arial"/>
              </a:rPr>
              <a:t>Controle de estoque preciso: Evita vendas de produtos sem disponibilidade</a:t>
            </a:r>
            <a:endParaRPr b="0" lang="en-US" sz="3400" spc="-1" strike="noStrike">
              <a:solidFill>
                <a:srgbClr val="ffffff"/>
              </a:solidFill>
              <a:latin typeface="Century Gothic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400" spc="-1" strike="noStrike">
              <a:solidFill>
                <a:srgbClr val="ffffff"/>
              </a:solidFill>
              <a:latin typeface="Century Gothic"/>
            </a:endParaRPr>
          </a:p>
          <a:p>
            <a:pPr marL="254880" indent="-254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3400" spc="-1" strike="noStrike">
                <a:solidFill>
                  <a:srgbClr val="ffffff"/>
                </a:solidFill>
                <a:latin typeface="Arial"/>
              </a:rPr>
              <a:t>👥 </a:t>
            </a:r>
            <a:r>
              <a:rPr b="0" lang="pt-BR" sz="3400" spc="-1" strike="noStrike">
                <a:solidFill>
                  <a:srgbClr val="ffffff"/>
                </a:solidFill>
                <a:latin typeface="Arial"/>
              </a:rPr>
              <a:t>Gestão de acessos: Cada usuário com suas permissões</a:t>
            </a:r>
            <a:endParaRPr b="0" lang="en-US" sz="3400" spc="-1" strike="noStrike">
              <a:solidFill>
                <a:srgbClr val="ffffff"/>
              </a:solidFill>
              <a:latin typeface="Century Gothic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400" spc="-1" strike="noStrike">
              <a:solidFill>
                <a:srgbClr val="ffffff"/>
              </a:solidFill>
              <a:latin typeface="Century Gothic"/>
            </a:endParaRPr>
          </a:p>
          <a:p>
            <a:pPr marL="254880" indent="-254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3400" spc="-1" strike="noStrike">
                <a:solidFill>
                  <a:srgbClr val="ffffff"/>
                </a:solidFill>
                <a:latin typeface="Arial"/>
              </a:rPr>
              <a:t>🔄 </a:t>
            </a:r>
            <a:r>
              <a:rPr b="0" lang="pt-BR" sz="3400" spc="-1" strike="noStrike">
                <a:solidFill>
                  <a:srgbClr val="ffffff"/>
                </a:solidFill>
                <a:latin typeface="Arial"/>
              </a:rPr>
              <a:t>Processos otimizados: Pedidos rápidos e sem erros</a:t>
            </a:r>
            <a:endParaRPr b="0" lang="en-US" sz="3400" spc="-1" strike="noStrike">
              <a:solidFill>
                <a:srgbClr val="ffffff"/>
              </a:solidFill>
              <a:latin typeface="Century Gothic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85800" y="764280"/>
            <a:ext cx="10820160" cy="1292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pt-BR" sz="4000" spc="-1" strike="noStrike" cap="all">
                <a:solidFill>
                  <a:srgbClr val="ffffff"/>
                </a:solidFill>
                <a:latin typeface="Arial"/>
              </a:rPr>
              <a:t> </a:t>
            </a:r>
            <a:r>
              <a:rPr b="0" lang="pt-BR" sz="4000" spc="-1" strike="noStrike" cap="all">
                <a:solidFill>
                  <a:srgbClr val="ffffff"/>
                </a:solidFill>
                <a:latin typeface="Arial"/>
              </a:rPr>
              <a:t>DIFERENCIAIS TÉCNICOS</a:t>
            </a:r>
            <a:endParaRPr b="0" lang="en-US" sz="40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557880" y="2168640"/>
            <a:ext cx="5333760" cy="4023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0000"/>
          </a:bodyPr>
          <a:p>
            <a:pPr indent="0" algn="just">
              <a:lnSpc>
                <a:spcPct val="17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Para profissionais técnicos.</a:t>
            </a: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marL="240480" indent="-240480" algn="just">
              <a:lnSpc>
                <a:spcPct val="17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O que torna nossa solução única:</a:t>
            </a: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marL="240480" indent="-240480" algn="just">
              <a:lnSpc>
                <a:spcPct val="17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🎯 </a:t>
            </a: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Arquitetura híbrida inteligente: Cada banco no seu propósito</a:t>
            </a: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17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marL="240480" indent="-240480" algn="just">
              <a:lnSpc>
                <a:spcPct val="17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🔄 </a:t>
            </a: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Sincronia automática: Dados entre MySQL e MongoDB</a:t>
            </a: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17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marL="240480" indent="-240480" algn="just">
              <a:lnSpc>
                <a:spcPct val="17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📋 </a:t>
            </a: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APIs RESTful bem documentadas: Fácil integração</a:t>
            </a: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17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marL="240480" indent="-240480" algn="just">
              <a:lnSpc>
                <a:spcPct val="17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🛡️ </a:t>
            </a: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Segurança em camadas: JWT + BCrypt + Controle de acesso</a:t>
            </a: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85800" y="764280"/>
            <a:ext cx="10820160" cy="1292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pt-BR" sz="4000" spc="-1" strike="noStrike" cap="all">
                <a:solidFill>
                  <a:srgbClr val="ffffff"/>
                </a:solidFill>
                <a:latin typeface="Arial"/>
              </a:rPr>
              <a:t>CONCLUSÃO E VALOR</a:t>
            </a:r>
            <a:endParaRPr b="0" lang="en-US" sz="4000" spc="-1" strike="noStrike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85800" y="2194560"/>
            <a:ext cx="5333760" cy="4023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4000"/>
          </a:bodyPr>
          <a:p>
            <a:pPr indent="0" algn="just"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solidFill>
                <a:srgbClr val="ffffff"/>
              </a:solidFill>
              <a:latin typeface="Century Gothic"/>
            </a:endParaRPr>
          </a:p>
          <a:p>
            <a:pPr marL="259560" indent="-259560" algn="just">
              <a:lnSpc>
                <a:spcPct val="16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"Resumindo, entregamos um sistema que é:"</a:t>
            </a: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160000"/>
              </a:lnSpc>
              <a:spcBef>
                <a:spcPts val="1001"/>
              </a:spcBef>
              <a:buNone/>
            </a:pP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marL="259560" indent="-259560" algn="just">
              <a:lnSpc>
                <a:spcPct val="16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✅ </a:t>
            </a: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Tecnicamente robusto para desenvolvedores</a:t>
            </a: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160000"/>
              </a:lnSpc>
              <a:spcBef>
                <a:spcPts val="1001"/>
              </a:spcBef>
              <a:buNone/>
            </a:pP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marL="259560" indent="-259560" algn="just">
              <a:lnSpc>
                <a:spcPct val="16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💰 </a:t>
            </a: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Economicamente viável para gestores</a:t>
            </a: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160000"/>
              </a:lnSpc>
              <a:spcBef>
                <a:spcPts val="1001"/>
              </a:spcBef>
              <a:buNone/>
            </a:pP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marL="259560" indent="-259560" algn="just">
              <a:lnSpc>
                <a:spcPct val="16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👨‍💻 </a:t>
            </a: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Facilmente operável para a equipe</a:t>
            </a: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indent="0" algn="just">
              <a:lnSpc>
                <a:spcPct val="160000"/>
              </a:lnSpc>
              <a:spcBef>
                <a:spcPts val="1001"/>
              </a:spcBef>
              <a:buNone/>
            </a:pP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  <a:p>
            <a:pPr marL="259560" indent="-259560" algn="just">
              <a:lnSpc>
                <a:spcPct val="16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🚀 </a:t>
            </a:r>
            <a:r>
              <a:rPr b="0" lang="pt-BR" sz="2600" spc="-1" strike="noStrike">
                <a:solidFill>
                  <a:srgbClr val="ffffff"/>
                </a:solidFill>
                <a:latin typeface="Arial"/>
              </a:rPr>
              <a:t>Preparado para o futuro com arquitetura escalável</a:t>
            </a:r>
            <a:endParaRPr b="0" lang="en-US" sz="2600" spc="-1" strike="noStrike">
              <a:solidFill>
                <a:srgbClr val="ffffff"/>
              </a:solidFill>
              <a:latin typeface="Century Gothic"/>
            </a:endParaRPr>
          </a:p>
        </p:txBody>
      </p:sp>
      <p:pic>
        <p:nvPicPr>
          <p:cNvPr id="102" name="Espaço Reservado para Conteúdo 4" descr=""/>
          <p:cNvPicPr/>
          <p:nvPr/>
        </p:nvPicPr>
        <p:blipFill>
          <a:blip r:embed="rId1"/>
          <a:stretch/>
        </p:blipFill>
        <p:spPr>
          <a:xfrm>
            <a:off x="6019920" y="2470320"/>
            <a:ext cx="6077160" cy="347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Trilha de Vapor">
  <a:themeElements>
    <a:clrScheme name="Vapor Trail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Trilha de Vapor">
  <a:themeElements>
    <a:clrScheme name="Vapor Trail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TM04033937[[fn=Trilha de Vapor]]</Template>
  <TotalTime>81</TotalTime>
  <Application>LibreOffice/7.4.7.2$Linux_X86_64 LibreOffice_project/40$Build-2</Application>
  <AppVersion>15.0000</AppVersion>
  <Words>318</Words>
  <Paragraphs>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2024-05-10T03:19:44Z</dcterms:created>
  <dc:creator>Tabita</dc:creator>
  <dc:description/>
  <dc:language>pt-BR</dc:language>
  <cp:lastModifiedBy/>
  <dcterms:modified xsi:type="dcterms:W3CDTF">2025-11-18T16:50:16Z</dcterms:modified>
  <cp:revision>13</cp:revision>
  <dc:subject/>
  <dc:title>tecnologia na web 3.0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